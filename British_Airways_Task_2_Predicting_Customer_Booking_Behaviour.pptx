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2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72543"/>
                </a:solidFill>
                <a:latin typeface="Arial"/>
              </a:defRPr>
            </a:pPr>
            <a:r>
              <a:rPr dirty="0"/>
              <a:t>Predicting Customer Booking </a:t>
            </a:r>
            <a:r>
              <a:rPr dirty="0" err="1"/>
              <a:t>Behaviour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rial"/>
              </a:defRPr>
            </a:pPr>
            <a:r>
              <a:t>British Airways Data Science Simulation | Random Forest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2543"/>
                </a:solidFill>
                <a:latin typeface="Arial"/>
              </a:defRPr>
            </a:pPr>
            <a:r>
              <a:rPr dirty="0"/>
              <a:t>Objective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Predict whether a customer completes a booking.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50,000 customer records; 14.96% of bookings were completed.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Random Forest with class balancing and one-hot encoding.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761488"/>
            <a:ext cx="4572000" cy="2084831"/>
          </a:xfrm>
          <a:prstGeom prst="roundRect">
            <a:avLst/>
          </a:prstGeom>
          <a:solidFill>
            <a:srgbClr val="E8F1FA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953512"/>
            <a:ext cx="41605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72543"/>
                </a:solidFill>
                <a:latin typeface="Arial"/>
              </a:defRPr>
            </a:pPr>
            <a:r>
              <a:rPr dirty="0"/>
              <a:t>Model performance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ROC-AUC: 79.40%  |  CV: 78.14% ± 0.39% CV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F1-score: 38.67%  |  CV: 38.05% ± 1.46% CV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Precision: 40.00%  |  CV: 39.94% ± 1.76% CV</a:t>
            </a:r>
          </a:p>
          <a:p>
            <a:pPr>
              <a:spcAft>
                <a:spcPts val="400"/>
              </a:spcAft>
              <a:defRPr sz="1050">
                <a:solidFill>
                  <a:srgbClr val="232D37"/>
                </a:solidFill>
                <a:latin typeface="Arial"/>
              </a:defRPr>
            </a:pPr>
            <a:r>
              <a:rPr dirty="0"/>
              <a:t>Recall: 37.43%  |  CV: 36.34% ± 1.30% 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5047488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41605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72543"/>
                </a:solidFill>
                <a:latin typeface="Arial"/>
              </a:defRPr>
            </a:pPr>
            <a:r>
              <a:t>Test confusion matrix</a:t>
            </a:r>
          </a:p>
          <a:p>
            <a:pPr>
              <a:defRPr sz="1050">
                <a:solidFill>
                  <a:srgbClr val="232D37"/>
                </a:solidFill>
                <a:latin typeface="Arial"/>
              </a:defRPr>
            </a:pPr>
            <a:r>
              <a:t>TN 7,664   |   FP 840   |   FN 936   |   TP 560</a:t>
            </a:r>
          </a:p>
        </p:txBody>
      </p:sp>
      <p:pic>
        <p:nvPicPr>
          <p:cNvPr id="10" name="Picture 9" descr="ba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207008"/>
            <a:ext cx="6309360" cy="390698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21808" y="4965192"/>
            <a:ext cx="6172200" cy="1161288"/>
          </a:xfrm>
          <a:prstGeom prst="roundRect">
            <a:avLst/>
          </a:prstGeom>
          <a:solidFill>
            <a:srgbClr val="E8F1FA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13832" y="5102352"/>
            <a:ext cx="5806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72543"/>
                </a:solidFill>
                <a:latin typeface="Arial"/>
              </a:defRPr>
            </a:pPr>
            <a:r>
              <a:rPr dirty="0"/>
              <a:t>Business findings</a:t>
            </a:r>
          </a:p>
          <a:p>
            <a:pPr>
              <a:spcAft>
                <a:spcPts val="200"/>
              </a:spcAft>
              <a:defRPr sz="930">
                <a:solidFill>
                  <a:srgbClr val="232D37"/>
                </a:solidFill>
                <a:latin typeface="Arial"/>
              </a:defRPr>
            </a:pPr>
            <a:r>
              <a:rPr dirty="0"/>
              <a:t>Booking origin and route were the strongest contributors to prediction.</a:t>
            </a:r>
          </a:p>
          <a:p>
            <a:pPr>
              <a:spcAft>
                <a:spcPts val="200"/>
              </a:spcAft>
              <a:defRPr sz="930">
                <a:solidFill>
                  <a:srgbClr val="232D37"/>
                </a:solidFill>
                <a:latin typeface="Arial"/>
              </a:defRPr>
            </a:pPr>
            <a:r>
              <a:rPr dirty="0"/>
              <a:t>Length of stay and sales channel also provided meaningful predictive signal.</a:t>
            </a:r>
          </a:p>
          <a:p>
            <a:pPr>
              <a:spcAft>
                <a:spcPts val="200"/>
              </a:spcAft>
              <a:defRPr sz="930">
                <a:solidFill>
                  <a:srgbClr val="232D37"/>
                </a:solidFill>
                <a:latin typeface="Arial"/>
              </a:defRPr>
            </a:pPr>
            <a:r>
              <a:rPr dirty="0"/>
              <a:t>Feature importance reflects model reliance, not causation; further testing is needed before operational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7395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rial"/>
              </a:defRPr>
            </a:pPr>
            <a:r>
              <a:t>Evaluation used stratified 5-fold cross-validation and a held-out 20%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ntlakuso nkuna</cp:lastModifiedBy>
  <cp:revision>1</cp:revision>
  <dcterms:created xsi:type="dcterms:W3CDTF">2013-01-27T09:14:16Z</dcterms:created>
  <dcterms:modified xsi:type="dcterms:W3CDTF">2026-09-25T20:49:29Z</dcterms:modified>
  <cp:category/>
</cp:coreProperties>
</file>